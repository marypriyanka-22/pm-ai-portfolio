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Libre Baskerville"/>
      <p:regular r:id="rId19"/>
    </p:embeddedFont>
    <p:embeddedFont>
      <p:font typeface="Libre Baskerville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8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sv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svg"/><Relationship Id="rId19" Type="http://schemas.openxmlformats.org/officeDocument/2006/relationships/slideLayout" Target="../slideLayouts/slideLayout11.xml"/><Relationship Id="rId2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7939" y="1386364"/>
            <a:ext cx="4700111" cy="587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Recruit-AI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57939" y="2207657"/>
            <a:ext cx="7828121" cy="405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50"/>
              </a:lnSpc>
              <a:buNone/>
            </a:pPr>
            <a:r>
              <a:rPr lang="en-US" sz="5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 Agentic AI Hiring System That Screens, Interviews and Shortlists Candidates — Fully Automated</a:t>
            </a:r>
            <a:endParaRPr lang="en-US" sz="5100" dirty="0"/>
          </a:p>
        </p:txBody>
      </p:sp>
      <p:sp>
        <p:nvSpPr>
          <p:cNvPr id="5" name="Shape 2"/>
          <p:cNvSpPr/>
          <p:nvPr/>
        </p:nvSpPr>
        <p:spPr>
          <a:xfrm>
            <a:off x="657939" y="6503075"/>
            <a:ext cx="1952030" cy="332542"/>
          </a:xfrm>
          <a:prstGeom prst="roundRect">
            <a:avLst>
              <a:gd name="adj" fmla="val 6784"/>
            </a:avLst>
          </a:prstGeom>
          <a:solidFill>
            <a:srgbClr val="D7D6F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692" y="6594158"/>
            <a:ext cx="150376" cy="1503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6196" y="6559391"/>
            <a:ext cx="1501021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WITH LOVABLE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2703909" y="6495455"/>
            <a:ext cx="552926" cy="347782"/>
          </a:xfrm>
          <a:prstGeom prst="roundRect">
            <a:avLst>
              <a:gd name="adj" fmla="val 6487"/>
            </a:avLst>
          </a:prstGeom>
          <a:noFill/>
          <a:ln w="7620">
            <a:solidFill>
              <a:srgbClr val="403CC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824282" y="6559391"/>
            <a:ext cx="312182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N8N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350776" y="6495455"/>
            <a:ext cx="781645" cy="347782"/>
          </a:xfrm>
          <a:prstGeom prst="roundRect">
            <a:avLst>
              <a:gd name="adj" fmla="val 6487"/>
            </a:avLst>
          </a:prstGeom>
          <a:noFill/>
          <a:ln w="7620">
            <a:solidFill>
              <a:srgbClr val="403CC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471148" y="6559391"/>
            <a:ext cx="540901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OPENAI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226362" y="6495455"/>
            <a:ext cx="765691" cy="347782"/>
          </a:xfrm>
          <a:prstGeom prst="roundRect">
            <a:avLst>
              <a:gd name="adj" fmla="val 6487"/>
            </a:avLst>
          </a:prstGeom>
          <a:noFill/>
          <a:ln w="7620">
            <a:solidFill>
              <a:srgbClr val="403CC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346734" y="6559391"/>
            <a:ext cx="524947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GEMINI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85993" y="6495455"/>
            <a:ext cx="1026319" cy="347782"/>
          </a:xfrm>
          <a:prstGeom prst="roundRect">
            <a:avLst>
              <a:gd name="adj" fmla="val 6487"/>
            </a:avLst>
          </a:prstGeom>
          <a:noFill/>
          <a:ln w="7620">
            <a:solidFill>
              <a:srgbClr val="403CC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206365" y="6559391"/>
            <a:ext cx="785574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WHATSAPP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536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Hiring is Broken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002631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Recruiters are losing great candidates to slow, inconsistent, and exhausting manual processes. The result? Decision fatigue, bad hires, and a poor candidate experience.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346490"/>
            <a:ext cx="3664744" cy="2032754"/>
          </a:xfrm>
          <a:prstGeom prst="roundRect">
            <a:avLst>
              <a:gd name="adj" fmla="val 1674"/>
            </a:avLst>
          </a:prstGeom>
          <a:solidFill>
            <a:srgbClr val="EAE8F3"/>
          </a:solidFill>
          <a:ln/>
        </p:spPr>
      </p:sp>
      <p:sp>
        <p:nvSpPr>
          <p:cNvPr id="6" name="Text 3"/>
          <p:cNvSpPr/>
          <p:nvPr/>
        </p:nvSpPr>
        <p:spPr>
          <a:xfrm>
            <a:off x="6507004" y="3573304"/>
            <a:ext cx="30421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📄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Resume Overload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07004" y="4063722"/>
            <a:ext cx="3211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Recruiters drown in PDFs and miss great talent buried in the pile.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748" y="3346490"/>
            <a:ext cx="3664863" cy="2032754"/>
          </a:xfrm>
          <a:prstGeom prst="roundRect">
            <a:avLst>
              <a:gd name="adj" fmla="val 1674"/>
            </a:avLst>
          </a:prstGeom>
          <a:solidFill>
            <a:srgbClr val="EAE8F3"/>
          </a:solidFill>
          <a:ln/>
        </p:spPr>
      </p:sp>
      <p:sp>
        <p:nvSpPr>
          <p:cNvPr id="9" name="Text 6"/>
          <p:cNvSpPr/>
          <p:nvPr/>
        </p:nvSpPr>
        <p:spPr>
          <a:xfrm>
            <a:off x="10398562" y="35733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⏳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Slow Screening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398562" y="4063722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review takes days — top candidates drop off before you even respond.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280190" y="5606058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12" name="Text 9"/>
          <p:cNvSpPr/>
          <p:nvPr/>
        </p:nvSpPr>
        <p:spPr>
          <a:xfrm>
            <a:off x="6507004" y="58328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⚖️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No Consistency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507004" y="6323290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Different recruiters score differently every time. Bias creeps in, quality suffers.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87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203382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Meet Recruit-AI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30827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3-stage agentic hiring funnel that runs on autopilot — from application to shortlist, without a single manual touchpoint.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700820"/>
            <a:ext cx="4347567" cy="9072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8348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Stage 1 — Screen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5325308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validates the resume and scores the lead out of 10 instantly.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3700820"/>
            <a:ext cx="4347567" cy="9072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68171" y="48348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Stage 2 — Assess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368171" y="5325308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WhatsApp chatbot conducts an async interview — no scheduling needed.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3700820"/>
            <a:ext cx="4347567" cy="9072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715738" y="48348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Stage 3 — Decide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9715738" y="5325308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Recruiter reviews the full AI report and triggers next steps with one click.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8320"/>
            <a:ext cx="38694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Candidate Experience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293376"/>
            <a:ext cx="67669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Candidate Journey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234231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application to decision — every step is seamless, mobile-first, and fully automated.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296037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315414"/>
            <a:ext cx="4196358" cy="30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34897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Apply Online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398014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Candidate fills out the application form on the Recruit-AI portal.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216962" y="296037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962" y="3315414"/>
            <a:ext cx="4196358" cy="30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6962" y="34897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Upload Resume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216962" y="398014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Uploads their resume and submits all role-specific details.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9640133" y="296037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3315414"/>
            <a:ext cx="4196358" cy="30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40133" y="3489722"/>
            <a:ext cx="33566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Meet Kie on WhatsApp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9640133" y="3980140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Receives a WhatsApp message from Kie, the AI recruiting assistant, within minutes.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546568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797987"/>
            <a:ext cx="6407944" cy="30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93790" y="59950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Async Interview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793790" y="6485453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Completes a 10-question interview on WhatsApp — on their own time, on their phone.</a:t>
            </a:r>
            <a:endParaRPr lang="en-US" sz="1750" dirty="0"/>
          </a:p>
        </p:txBody>
      </p:sp>
      <p:sp>
        <p:nvSpPr>
          <p:cNvPr id="21" name="Text 15"/>
          <p:cNvSpPr/>
          <p:nvPr/>
        </p:nvSpPr>
        <p:spPr>
          <a:xfrm>
            <a:off x="7428548" y="546568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548" y="5797987"/>
            <a:ext cx="6407944" cy="30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28548" y="5995035"/>
            <a:ext cx="28648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Outcome Delivered</a:t>
            </a:r>
            <a:endParaRPr lang="en-US" sz="2200" dirty="0"/>
          </a:p>
        </p:txBody>
      </p:sp>
      <p:sp>
        <p:nvSpPr>
          <p:cNvPr id="24" name="Text 17"/>
          <p:cNvSpPr/>
          <p:nvPr/>
        </p:nvSpPr>
        <p:spPr>
          <a:xfrm>
            <a:off x="7428548" y="6485453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Gets a booking link if shortlisted — or a polite, professional rejection message.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2198" y="491133"/>
            <a:ext cx="2480667" cy="268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Technical Architecture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92198" y="811173"/>
            <a:ext cx="4291965" cy="536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Under The Hood</a:t>
            </a:r>
            <a:endParaRPr lang="en-US" sz="3350" dirty="0"/>
          </a:p>
        </p:txBody>
      </p:sp>
      <p:sp>
        <p:nvSpPr>
          <p:cNvPr id="4" name="Text 2"/>
          <p:cNvSpPr/>
          <p:nvPr/>
        </p:nvSpPr>
        <p:spPr>
          <a:xfrm>
            <a:off x="1392198" y="1542574"/>
            <a:ext cx="11845885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layer of Recruit-AI is purpose-built for reliability, speed, and intelligent decision-making at scale.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2198" y="1929884"/>
            <a:ext cx="11845885" cy="54212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69388" y="2485247"/>
            <a:ext cx="2888330" cy="655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Integration &amp; Comms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10069388" y="3233534"/>
            <a:ext cx="2888330" cy="46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storage and WhatsApp/Cal.com booking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93013" y="4430939"/>
            <a:ext cx="2634655" cy="327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Automation Engine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1672268" y="4851669"/>
            <a:ext cx="2655400" cy="46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n8n workflows: webhooks, validation, agents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069388" y="5351012"/>
            <a:ext cx="2620461" cy="32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Core AI Layer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10069388" y="5771741"/>
            <a:ext cx="2888330" cy="460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Resume rating and lead scoring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392198" y="7497247"/>
            <a:ext cx="11845885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automation engine orchestrates every handoff — from intake webhook to calendar invite — with zero manual intervention required.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414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7596" y="3379946"/>
            <a:ext cx="8554641" cy="685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Full Visibility for the Recruiter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09719" y="4383286"/>
            <a:ext cx="6595824" cy="3207663"/>
          </a:xfrm>
          <a:prstGeom prst="roundRect">
            <a:avLst>
              <a:gd name="adj" fmla="val 1026"/>
            </a:avLst>
          </a:prstGeom>
          <a:solidFill>
            <a:srgbClr val="403CCF"/>
          </a:solidFill>
          <a:ln/>
        </p:spPr>
      </p:sp>
      <p:sp>
        <p:nvSpPr>
          <p:cNvPr id="5" name="Text 2"/>
          <p:cNvSpPr/>
          <p:nvPr/>
        </p:nvSpPr>
        <p:spPr>
          <a:xfrm>
            <a:off x="829032" y="4595217"/>
            <a:ext cx="3382208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the Recruiter Sees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829032" y="5149810"/>
            <a:ext cx="6157198" cy="2366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Candidate name, company, and role applied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Resume validity check + rating out of 10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Lead score out of 10 with full breakdown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AI-flagged green flags and red flags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recommendation badge: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Priority / Follow Up / Pass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590353" y="4595217"/>
            <a:ext cx="3827621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the Recruiter Can Do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7590353" y="5149810"/>
            <a:ext cx="6280071" cy="1947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Approve candidate → triggers WhatsApp interview instantly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Reject candidate → sends polite automated message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the full WhatsApp transcript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Confirm whether the calendar invite was sent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1585" y="513993"/>
            <a:ext cx="2196941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AI Interview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251585" y="842963"/>
            <a:ext cx="9841230" cy="549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Meet Kie — Your AI Recruiter on WhatsApp</a:t>
            </a:r>
            <a:endParaRPr lang="en-US" sz="3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1585" y="1749385"/>
            <a:ext cx="7732514" cy="43157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83948" y="3525441"/>
            <a:ext cx="3702248" cy="763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"I'm Kie, the recruiting assistant for this role </a:t>
            </a:r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👋</a:t>
            </a:r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Let's get started — I'll ask you 10 quick questions."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9420344" y="3525441"/>
            <a:ext cx="22860" cy="763548"/>
          </a:xfrm>
          <a:prstGeom prst="rect">
            <a:avLst/>
          </a:prstGeom>
          <a:solidFill>
            <a:srgbClr val="403CC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7427" y="6380024"/>
            <a:ext cx="263604" cy="2636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2728" y="6371392"/>
            <a:ext cx="5407343" cy="49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Asks 10 role-specific questions generated directly from the job description</a:t>
            </a:r>
            <a:endParaRPr lang="en-US" sz="13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66052" y="6380024"/>
            <a:ext cx="263604" cy="26360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71353" y="6371392"/>
            <a:ext cx="5407343" cy="49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Probes red flags and validates green flags surfaced from the resume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7427" y="7188220"/>
            <a:ext cx="263604" cy="26360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822728" y="7179588"/>
            <a:ext cx="5407343" cy="49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Sends a calendar booking link automatically when the candidate qualifies</a:t>
            </a:r>
            <a:endParaRPr lang="en-US" sz="13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66052" y="7188220"/>
            <a:ext cx="263604" cy="26360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971353" y="7179588"/>
            <a:ext cx="5407343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Never reveals internal scores or assessments to the candidate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718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Validation Layer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916906"/>
            <a:ext cx="99561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Nothing Gets Through Unchecked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296584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 intelligent checkpoints ensure every candidate is evaluated fairly, thoroughly, and without human bias.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583900"/>
            <a:ext cx="4196358" cy="3173849"/>
          </a:xfrm>
          <a:prstGeom prst="roundRect">
            <a:avLst>
              <a:gd name="adj" fmla="val 4610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310" y="3583900"/>
            <a:ext cx="121920" cy="3173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2524" y="3841194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📄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Resume Check — Gemini Vision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42524" y="4685943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Validates that the uploaded file is actually a resume. Rates it 0–10 across formatting, completeness, language quality, and role relevance.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3583900"/>
            <a:ext cx="4196358" cy="3173849"/>
          </a:xfrm>
          <a:prstGeom prst="roundRect">
            <a:avLst>
              <a:gd name="adj" fmla="val 4610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482" y="3583900"/>
            <a:ext cx="121920" cy="317384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65696" y="3841194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🧠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Lead Scoring — OpenAI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565696" y="4685943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Scores the applicant 0–10 across 7 dimensions: work experience, skills match, motivation, availability, salary expectation, location fit, and portfolio quality.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583900"/>
            <a:ext cx="4196358" cy="3173849"/>
          </a:xfrm>
          <a:prstGeom prst="roundRect">
            <a:avLst>
              <a:gd name="adj" fmla="val 4610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53" y="3583900"/>
            <a:ext cx="121920" cy="317384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988868" y="3841194"/>
            <a:ext cx="35855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✅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Interview Verification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9988868" y="4331613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After every WhatsApp reply, the AI verifies whether the calendar link was sent and auto-updates the candidate's status in the recruiter dashboard in real time.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6526"/>
            <a:ext cx="35529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Candidate Transparency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221581"/>
            <a:ext cx="1280231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Candidates Always Know Where They Stand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227052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logins. No app downloads. Candidates simply enter their email to check live status — works on any device, anywhere.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2888575"/>
            <a:ext cx="6407944" cy="680442"/>
          </a:xfrm>
          <a:prstGeom prst="roundRect">
            <a:avLst>
              <a:gd name="adj" fmla="val 480029"/>
            </a:avLst>
          </a:prstGeom>
          <a:solidFill>
            <a:srgbClr val="EAE8F3"/>
          </a:solidFill>
          <a:ln/>
        </p:spPr>
      </p:sp>
      <p:sp>
        <p:nvSpPr>
          <p:cNvPr id="6" name="Text 4"/>
          <p:cNvSpPr/>
          <p:nvPr/>
        </p:nvSpPr>
        <p:spPr>
          <a:xfrm>
            <a:off x="3827621" y="301609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020604" y="37958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Applied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0604" y="4286250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"We've received your application. Hang tight!"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888575"/>
            <a:ext cx="6408063" cy="680442"/>
          </a:xfrm>
          <a:prstGeom prst="roundRect">
            <a:avLst>
              <a:gd name="adj" fmla="val 480029"/>
            </a:avLst>
          </a:prstGeom>
          <a:solidFill>
            <a:srgbClr val="EAE8F3"/>
          </a:solidFill>
          <a:ln/>
        </p:spPr>
      </p:sp>
      <p:sp>
        <p:nvSpPr>
          <p:cNvPr id="10" name="Text 8"/>
          <p:cNvSpPr/>
          <p:nvPr/>
        </p:nvSpPr>
        <p:spPr>
          <a:xfrm>
            <a:off x="10462498" y="301609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7655362" y="37958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Under Review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55362" y="4286250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"Your resume is being reviewed by our AI system."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102781"/>
            <a:ext cx="6407944" cy="680442"/>
          </a:xfrm>
          <a:prstGeom prst="roundRect">
            <a:avLst>
              <a:gd name="adj" fmla="val 480029"/>
            </a:avLst>
          </a:prstGeom>
          <a:solidFill>
            <a:srgbClr val="EAE8F3"/>
          </a:solidFill>
          <a:ln/>
        </p:spPr>
      </p:sp>
      <p:sp>
        <p:nvSpPr>
          <p:cNvPr id="14" name="Text 12"/>
          <p:cNvSpPr/>
          <p:nvPr/>
        </p:nvSpPr>
        <p:spPr>
          <a:xfrm>
            <a:off x="3827621" y="523029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3"/>
          <p:cNvSpPr/>
          <p:nvPr/>
        </p:nvSpPr>
        <p:spPr>
          <a:xfrm>
            <a:off x="1020604" y="6010037"/>
            <a:ext cx="30882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Interview In Progress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20604" y="6500455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"Kie has reached out on WhatsApp — check your messages."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428548" y="5102781"/>
            <a:ext cx="6408063" cy="680442"/>
          </a:xfrm>
          <a:prstGeom prst="roundRect">
            <a:avLst>
              <a:gd name="adj" fmla="val 480029"/>
            </a:avLst>
          </a:prstGeom>
          <a:solidFill>
            <a:srgbClr val="EAE8F3"/>
          </a:solidFill>
          <a:ln/>
        </p:spPr>
      </p:sp>
      <p:sp>
        <p:nvSpPr>
          <p:cNvPr id="18" name="Text 16"/>
          <p:cNvSpPr/>
          <p:nvPr/>
        </p:nvSpPr>
        <p:spPr>
          <a:xfrm>
            <a:off x="10462498" y="523029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650" dirty="0"/>
          </a:p>
        </p:txBody>
      </p:sp>
      <p:sp>
        <p:nvSpPr>
          <p:cNvPr id="19" name="Text 17"/>
          <p:cNvSpPr/>
          <p:nvPr/>
        </p:nvSpPr>
        <p:spPr>
          <a:xfrm>
            <a:off x="7655362" y="60100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Decision Made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655362" y="6500455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"A decision has been made. Check your WhatsApp for next steps."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30147" y="784741"/>
            <a:ext cx="4326374" cy="469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Built Lean. Scales Fast.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2130147" y="1453515"/>
            <a:ext cx="5135166" cy="1345049"/>
          </a:xfrm>
          <a:prstGeom prst="roundRect">
            <a:avLst>
              <a:gd name="adj" fmla="val 1676"/>
            </a:avLst>
          </a:prstGeom>
          <a:solidFill>
            <a:srgbClr val="EAE8F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0404" y="1603772"/>
            <a:ext cx="450771" cy="450771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04348" y="1727716"/>
            <a:ext cx="202883" cy="20288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0404" y="2154079"/>
            <a:ext cx="1878568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Lovable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2280404" y="2448520"/>
            <a:ext cx="4834652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Frontend &amp; dashboards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7364849" y="1453515"/>
            <a:ext cx="5135285" cy="1345049"/>
          </a:xfrm>
          <a:prstGeom prst="roundRect">
            <a:avLst>
              <a:gd name="adj" fmla="val 1676"/>
            </a:avLst>
          </a:prstGeom>
          <a:solidFill>
            <a:srgbClr val="EAE8F3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5106" y="1603772"/>
            <a:ext cx="450771" cy="450771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39050" y="1727716"/>
            <a:ext cx="202883" cy="20288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15106" y="2154079"/>
            <a:ext cx="1878568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n8n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7515106" y="2448520"/>
            <a:ext cx="4834771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Automation engine</a:t>
            </a:r>
            <a:endParaRPr lang="en-US" sz="1150" dirty="0"/>
          </a:p>
        </p:txBody>
      </p:sp>
      <p:sp>
        <p:nvSpPr>
          <p:cNvPr id="13" name="Shape 7"/>
          <p:cNvSpPr/>
          <p:nvPr/>
        </p:nvSpPr>
        <p:spPr>
          <a:xfrm>
            <a:off x="2130147" y="2898100"/>
            <a:ext cx="5135166" cy="1345049"/>
          </a:xfrm>
          <a:prstGeom prst="roundRect">
            <a:avLst>
              <a:gd name="adj" fmla="val 1676"/>
            </a:avLst>
          </a:prstGeom>
          <a:solidFill>
            <a:srgbClr val="EAE8F3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0404" y="3048357"/>
            <a:ext cx="450771" cy="450771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04348" y="3172301"/>
            <a:ext cx="202883" cy="20288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280404" y="3598664"/>
            <a:ext cx="1878568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OpenAI GPT-4o</a:t>
            </a:r>
            <a:endParaRPr lang="en-US" sz="1450" dirty="0"/>
          </a:p>
        </p:txBody>
      </p:sp>
      <p:sp>
        <p:nvSpPr>
          <p:cNvPr id="17" name="Text 9"/>
          <p:cNvSpPr/>
          <p:nvPr/>
        </p:nvSpPr>
        <p:spPr>
          <a:xfrm>
            <a:off x="2280404" y="3893106"/>
            <a:ext cx="4834652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Scoring &amp; interviews</a:t>
            </a:r>
            <a:endParaRPr lang="en-US" sz="1150" dirty="0"/>
          </a:p>
        </p:txBody>
      </p:sp>
      <p:sp>
        <p:nvSpPr>
          <p:cNvPr id="18" name="Shape 10"/>
          <p:cNvSpPr/>
          <p:nvPr/>
        </p:nvSpPr>
        <p:spPr>
          <a:xfrm>
            <a:off x="7364849" y="2898100"/>
            <a:ext cx="5135285" cy="1345049"/>
          </a:xfrm>
          <a:prstGeom prst="roundRect">
            <a:avLst>
              <a:gd name="adj" fmla="val 1676"/>
            </a:avLst>
          </a:prstGeom>
          <a:solidFill>
            <a:srgbClr val="EAE8F3"/>
          </a:solidFill>
          <a:ln/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15106" y="3048357"/>
            <a:ext cx="450771" cy="450771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39050" y="3172301"/>
            <a:ext cx="202883" cy="202883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515106" y="3598664"/>
            <a:ext cx="1878568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Gemini Vision</a:t>
            </a:r>
            <a:endParaRPr lang="en-US" sz="1450" dirty="0"/>
          </a:p>
        </p:txBody>
      </p:sp>
      <p:sp>
        <p:nvSpPr>
          <p:cNvPr id="22" name="Text 12"/>
          <p:cNvSpPr/>
          <p:nvPr/>
        </p:nvSpPr>
        <p:spPr>
          <a:xfrm>
            <a:off x="7515106" y="3893106"/>
            <a:ext cx="4834771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Resume validation</a:t>
            </a:r>
            <a:endParaRPr lang="en-US" sz="1150" dirty="0"/>
          </a:p>
        </p:txBody>
      </p:sp>
      <p:sp>
        <p:nvSpPr>
          <p:cNvPr id="23" name="Shape 13"/>
          <p:cNvSpPr/>
          <p:nvPr/>
        </p:nvSpPr>
        <p:spPr>
          <a:xfrm>
            <a:off x="2130147" y="4342686"/>
            <a:ext cx="5135166" cy="1345049"/>
          </a:xfrm>
          <a:prstGeom prst="roundRect">
            <a:avLst>
              <a:gd name="adj" fmla="val 1676"/>
            </a:avLst>
          </a:prstGeom>
          <a:solidFill>
            <a:srgbClr val="EAE8F3"/>
          </a:solidFill>
          <a:ln/>
        </p:spPr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80404" y="4492942"/>
            <a:ext cx="450771" cy="450771"/>
          </a:xfrm>
          <a:prstGeom prst="rect">
            <a:avLst/>
          </a:prstGeom>
        </p:spPr>
      </p:pic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404348" y="4616887"/>
            <a:ext cx="202883" cy="202883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2280404" y="5043249"/>
            <a:ext cx="1878568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WhatsApp API</a:t>
            </a:r>
            <a:endParaRPr lang="en-US" sz="1450" dirty="0"/>
          </a:p>
        </p:txBody>
      </p:sp>
      <p:sp>
        <p:nvSpPr>
          <p:cNvPr id="27" name="Text 15"/>
          <p:cNvSpPr/>
          <p:nvPr/>
        </p:nvSpPr>
        <p:spPr>
          <a:xfrm>
            <a:off x="2280404" y="5337691"/>
            <a:ext cx="4834652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Interview channel</a:t>
            </a:r>
            <a:endParaRPr lang="en-US" sz="1150" dirty="0"/>
          </a:p>
        </p:txBody>
      </p:sp>
      <p:sp>
        <p:nvSpPr>
          <p:cNvPr id="28" name="Shape 16"/>
          <p:cNvSpPr/>
          <p:nvPr/>
        </p:nvSpPr>
        <p:spPr>
          <a:xfrm>
            <a:off x="7364849" y="4342686"/>
            <a:ext cx="5135285" cy="1345049"/>
          </a:xfrm>
          <a:prstGeom prst="roundRect">
            <a:avLst>
              <a:gd name="adj" fmla="val 1676"/>
            </a:avLst>
          </a:prstGeom>
          <a:solidFill>
            <a:srgbClr val="EAE8F3"/>
          </a:solidFill>
          <a:ln/>
        </p:spPr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15106" y="4492942"/>
            <a:ext cx="450771" cy="450771"/>
          </a:xfrm>
          <a:prstGeom prst="rect">
            <a:avLst/>
          </a:prstGeom>
        </p:spPr>
      </p:pic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639050" y="4616887"/>
            <a:ext cx="202883" cy="202883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7515106" y="5043249"/>
            <a:ext cx="1878568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Cal.com</a:t>
            </a:r>
            <a:endParaRPr lang="en-US" sz="1450" dirty="0"/>
          </a:p>
        </p:txBody>
      </p:sp>
      <p:sp>
        <p:nvSpPr>
          <p:cNvPr id="32" name="Text 18"/>
          <p:cNvSpPr/>
          <p:nvPr/>
        </p:nvSpPr>
        <p:spPr>
          <a:xfrm>
            <a:off x="7515106" y="5337691"/>
            <a:ext cx="4834771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Meeting scheduling</a:t>
            </a:r>
            <a:endParaRPr lang="en-US" sz="1150" dirty="0"/>
          </a:p>
        </p:txBody>
      </p:sp>
      <p:sp>
        <p:nvSpPr>
          <p:cNvPr id="33" name="Text 19"/>
          <p:cNvSpPr/>
          <p:nvPr/>
        </p:nvSpPr>
        <p:spPr>
          <a:xfrm>
            <a:off x="2130147" y="5799653"/>
            <a:ext cx="10369987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Recruit-AI removes the manual bottleneck from hiring. Recruiters focus on people — the AI handles everything else.</a:t>
            </a:r>
            <a:endParaRPr lang="en-US" sz="1150" dirty="0"/>
          </a:p>
        </p:txBody>
      </p:sp>
      <p:sp>
        <p:nvSpPr>
          <p:cNvPr id="34" name="Text 20"/>
          <p:cNvSpPr/>
          <p:nvPr/>
        </p:nvSpPr>
        <p:spPr>
          <a:xfrm>
            <a:off x="2130147" y="6148745"/>
            <a:ext cx="10369987" cy="1296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050" dirty="0">
                <a:solidFill>
                  <a:srgbClr val="FFFFFF"/>
                </a:solidFill>
                <a:highlight>
                  <a:srgbClr val="403CCF"/>
                </a:highlight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Screen Smarter. Interview Faster. Hire Better.</a:t>
            </a:r>
            <a:endParaRPr lang="en-US" sz="4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2026-02-22T23:19:00Z</dcterms:created>
  <dcterms:modified xsi:type="dcterms:W3CDTF">2026-02-22T23:19:00Z</dcterms:modified>
</cp:coreProperties>
</file>